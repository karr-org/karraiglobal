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2c%20professional%2c%20high%20quality%2c%204k" ContentType="image/%2c%20professional%2c%20high%20quality%2c%204k"/>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a broad definition, emphasizing its importance beyond simple record-keeping. Highlight its role in decision-making and growth. Engage the audience with a rhetorical question: 'Are you truly fluent in the language of your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explain each core function. Use real-world examples to illustrate how each function contributes to overall financial understanding. Emphasize the interconnectedness of these functions.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these principles are important for maintaining integrity and comparability in financial reporting. Mention the role of regulatory bodies in enforcing these principles. Highlight the importance of ethical accounting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define each statement and its purpose. Explain how these statements are interconnected and provide a comprehensive view of a company's financial health. Emphasize the importance of understanding these statements for effective decision-making.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compelling statistics that highlight the positive impact of effective accounting practices. Use these stats to reinforce the value proposition of investing in accounting expertise. Connect the stats to specific business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accounting data can be used to support strategic decision-making in various areas of the business. Provide examples of how companies have used accounting information to improve their performance. Emphasize the importance of aligning accounting practices with overall business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the impact of technology on accounting practices. Highlight the benefits of automation, cloud computing, and data analytics. Emphasize the importance of staying up-to-date with the latest technological advancements in accounting.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strong accounting practices lead to better financial reporting, investor confidence, and access to capital. Use percentages to show the value of good accounting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Provide practical advice on how businesses can invest in accounting expertise. Emphasize the importance of hiring qualified professionals, implementing robust systems, and providing ongoing training. Encourage businesses to seek external advice when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with a strong call to action, encouraging the audience to embrace accounting as a strategic asset. Reinforce the message that accounting empowers businesses to achieve sustainable success. End with an inspiring quote about financial intelligence or business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2c%20professional%2c%20high%20quality%2c%204k"/><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2c%20professional%2c%20high%20quality%2c%204k"/><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3B82F6"/>
          </a:solidFill>
          <a:ln/>
        </p:spPr>
      </p:sp>
      <p:sp>
        <p:nvSpPr>
          <p:cNvPr id="3" name="Shape 1"/>
          <p:cNvSpPr/>
          <p:nvPr/>
        </p:nvSpPr>
        <p:spPr>
          <a:xfrm>
            <a:off x="457200" y="5943600"/>
            <a:ext cx="457200" cy="457200"/>
          </a:xfrm>
          <a:prstGeom prst="ellipse">
            <a:avLst/>
          </a:prstGeom>
          <a:solidFill>
            <a:srgbClr val="8B5CF6">
              <a:alpha val="30000"/>
            </a:srgbClr>
          </a:solidFill>
          <a:ln/>
        </p:spPr>
      </p:sp>
      <p:sp>
        <p:nvSpPr>
          <p:cNvPr id="4" name="Shape 2"/>
          <p:cNvSpPr/>
          <p:nvPr/>
        </p:nvSpPr>
        <p:spPr>
          <a:xfrm>
            <a:off x="11274552" y="5943600"/>
            <a:ext cx="457200" cy="457200"/>
          </a:xfrm>
          <a:prstGeom prst="ellipse">
            <a:avLst/>
          </a:prstGeom>
          <a:solidFill>
            <a:srgbClr val="8B5CF6">
              <a:alpha val="30000"/>
            </a:srgbClr>
          </a:solidFill>
          <a:ln/>
        </p:spPr>
      </p:sp>
      <p:sp>
        <p:nvSpPr>
          <p:cNvPr id="5" name="Text 3"/>
          <p:cNvSpPr/>
          <p:nvPr/>
        </p:nvSpPr>
        <p:spPr>
          <a:xfrm>
            <a:off x="914400" y="2286000"/>
            <a:ext cx="10360152" cy="1371600"/>
          </a:xfrm>
          <a:prstGeom prst="rect">
            <a:avLst/>
          </a:prstGeom>
          <a:noFill/>
          <a:ln/>
        </p:spPr>
        <p:txBody>
          <a:bodyPr wrap="square" rtlCol="0" anchor="ctr"/>
          <a:lstStyle/>
          <a:p>
            <a:pPr algn="ctr" indent="0" marL="0">
              <a:buNone/>
            </a:pPr>
            <a:r>
              <a:rPr lang="en-US" sz="5400" b="1" dirty="0">
                <a:solidFill>
                  <a:srgbClr val="F8FAFC"/>
                </a:solidFill>
                <a:latin typeface="Arial" pitchFamily="34" charset="0"/>
                <a:ea typeface="Arial" pitchFamily="34" charset="-122"/>
                <a:cs typeface="Arial" pitchFamily="34" charset="-120"/>
              </a:rPr>
              <a:t>What is Accounting?</a:t>
            </a:r>
            <a:endParaRPr lang="en-US" sz="5400" dirty="0"/>
          </a:p>
        </p:txBody>
      </p:sp>
      <p:sp>
        <p:nvSpPr>
          <p:cNvPr id="6" name="Text 4"/>
          <p:cNvSpPr/>
          <p:nvPr/>
        </p:nvSpPr>
        <p:spPr>
          <a:xfrm>
            <a:off x="914400" y="3840480"/>
            <a:ext cx="10360152" cy="1600200"/>
          </a:xfrm>
          <a:prstGeom prst="rect">
            <a:avLst/>
          </a:prstGeom>
          <a:noFill/>
          <a:ln/>
        </p:spPr>
        <p:txBody>
          <a:bodyPr wrap="square" rtlCol="0" anchor="ctr"/>
          <a:lstStyle/>
          <a:p>
            <a:pPr indent="0" marL="0">
              <a:lnSpc>
                <a:spcPts val="2400"/>
              </a:lnSpc>
              <a:buNone/>
            </a:pPr>
            <a:r>
              <a:rPr lang="en-US" sz="1800" dirty="0">
                <a:solidFill>
                  <a:srgbClr val="F8FAFC"/>
                </a:solidFill>
                <a:latin typeface="Arial" pitchFamily="34" charset="0"/>
                <a:ea typeface="Arial" pitchFamily="34" charset="-122"/>
                <a:cs typeface="Arial" pitchFamily="34" charset="-120"/>
              </a:rPr>
              <a:t>Accounting is more than just numbers; it's the systematic process of recording, summarizing, and analyzing financial transactions. It provides crucial insights that empower informed decision-making and strategic growth for your business. Understanding accounting principles is fundamental to navigating the complexities of the business world.</a:t>
            </a:r>
            <a:endParaRPr lang="en-US" sz="1800" dirty="0"/>
          </a:p>
        </p:txBody>
      </p:sp>
      <p:sp>
        <p:nvSpPr>
          <p:cNvPr id="7" name="Text 5"/>
          <p:cNvSpPr/>
          <p:nvPr/>
        </p:nvSpPr>
        <p:spPr>
          <a:xfrm>
            <a:off x="10972800" y="6400800"/>
            <a:ext cx="914400" cy="36576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 / 10</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685800" y="1737360"/>
            <a:ext cx="1828800" cy="36576"/>
          </a:xfrm>
          <a:prstGeom prst="rect">
            <a:avLst/>
          </a:prstGeom>
          <a:solidFill>
            <a:srgbClr val="3B82F6"/>
          </a:solidFill>
          <a:ln/>
        </p:spPr>
      </p:sp>
      <p:sp>
        <p:nvSpPr>
          <p:cNvPr id="3" name="Text 1"/>
          <p:cNvSpPr/>
          <p:nvPr/>
        </p:nvSpPr>
        <p:spPr>
          <a:xfrm>
            <a:off x="685800" y="548640"/>
            <a:ext cx="10817352" cy="1097280"/>
          </a:xfrm>
          <a:prstGeom prst="rect">
            <a:avLst/>
          </a:prstGeom>
          <a:noFill/>
          <a:ln/>
        </p:spPr>
        <p:txBody>
          <a:bodyPr wrap="square" rtlCol="0" anchor="ctr"/>
          <a:lstStyle/>
          <a:p>
            <a:pPr algn="l" indent="0" marL="0">
              <a:buNone/>
            </a:pPr>
            <a:r>
              <a:rPr lang="en-US" sz="4000" b="1" dirty="0">
                <a:solidFill>
                  <a:srgbClr val="F8FAFC"/>
                </a:solidFill>
                <a:latin typeface="Arial" pitchFamily="34" charset="0"/>
                <a:ea typeface="Arial" pitchFamily="34" charset="-122"/>
                <a:cs typeface="Arial" pitchFamily="34" charset="-120"/>
              </a:rPr>
              <a:t>The Core Functions of Accounting</a:t>
            </a:r>
            <a:endParaRPr lang="en-US" sz="4000" dirty="0"/>
          </a:p>
        </p:txBody>
      </p:sp>
      <p:sp>
        <p:nvSpPr>
          <p:cNvPr id="4" name="Text 2"/>
          <p:cNvSpPr/>
          <p:nvPr/>
        </p:nvSpPr>
        <p:spPr>
          <a:xfrm>
            <a:off x="685800" y="1828800"/>
            <a:ext cx="10817352" cy="1645920"/>
          </a:xfrm>
          <a:prstGeom prst="rect">
            <a:avLst/>
          </a:prstGeom>
          <a:noFill/>
          <a:ln/>
        </p:spPr>
        <p:txBody>
          <a:bodyPr wrap="square" rtlCol="0" anchor="t"/>
          <a:lstStyle/>
          <a:p>
            <a:r>
              <a:rPr lang="en-US" sz="1600" dirty="0">
                <a:solidFill>
                  <a:srgbClr val="F8FAFC"/>
                </a:solidFill>
                <a:latin typeface="Arial" pitchFamily="34" charset="0"/>
                <a:ea typeface="Arial" pitchFamily="34" charset="-122"/>
                <a:cs typeface="Arial" pitchFamily="34" charset="-120"/>
              </a:rPr>
              <a:t>Recording: Meticulously documenting all financial transactions.</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Classifying: Organizing transactions into meaningful categories.</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Summarizing: Presenting data in clear and concise reports.</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Analyzing: Interpreting financial information to identify trends and opportunities.</a:t>
            </a:r>
            <a:endParaRPr lang="en-US" sz="1600" dirty="0"/>
          </a:p>
        </p:txBody>
      </p:sp>
      <p:sp>
        <p:nvSpPr>
          <p:cNvPr id="5" name="Text 3"/>
          <p:cNvSpPr/>
          <p:nvPr/>
        </p:nvSpPr>
        <p:spPr>
          <a:xfrm>
            <a:off x="10972800" y="6400800"/>
            <a:ext cx="914400" cy="36576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4572000" cy="6858000"/>
          </a:xfrm>
          <a:prstGeom prst="rect">
            <a:avLst/>
          </a:prstGeom>
          <a:solidFill>
            <a:srgbClr val="8B5CF6">
              <a:alpha val="15000"/>
            </a:srgbClr>
          </a:solidFill>
          <a:ln/>
        </p:spPr>
      </p:sp>
      <p:sp>
        <p:nvSpPr>
          <p:cNvPr id="3" name="Text 1"/>
          <p:cNvSpPr/>
          <p:nvPr/>
        </p:nvSpPr>
        <p:spPr>
          <a:xfrm>
            <a:off x="5029200" y="731520"/>
            <a:ext cx="6473952" cy="1097280"/>
          </a:xfrm>
          <a:prstGeom prst="rect">
            <a:avLst/>
          </a:prstGeom>
          <a:noFill/>
          <a:ln/>
        </p:spPr>
        <p:txBody>
          <a:bodyPr wrap="square" rtlCol="0" anchor="ctr"/>
          <a:lstStyle/>
          <a:p>
            <a:pPr algn="l" indent="0" marL="0">
              <a:buNone/>
            </a:pPr>
            <a:r>
              <a:rPr lang="en-US" sz="3600" b="1" dirty="0">
                <a:solidFill>
                  <a:srgbClr val="F8FAFC"/>
                </a:solidFill>
                <a:latin typeface="Arial" pitchFamily="34" charset="0"/>
                <a:ea typeface="Arial" pitchFamily="34" charset="-122"/>
                <a:cs typeface="Arial" pitchFamily="34" charset="-120"/>
              </a:rPr>
              <a:t>Accounting's Guiding Principles</a:t>
            </a:r>
            <a:endParaRPr lang="en-US" sz="3600" dirty="0"/>
          </a:p>
        </p:txBody>
      </p:sp>
      <p:sp>
        <p:nvSpPr>
          <p:cNvPr id="4" name="Text 2"/>
          <p:cNvSpPr/>
          <p:nvPr/>
        </p:nvSpPr>
        <p:spPr>
          <a:xfrm>
            <a:off x="5029200" y="2011680"/>
            <a:ext cx="6473952" cy="960120"/>
          </a:xfrm>
          <a:prstGeom prst="rect">
            <a:avLst/>
          </a:prstGeom>
          <a:noFill/>
          <a:ln/>
        </p:spPr>
        <p:txBody>
          <a:bodyPr wrap="square" rtlCol="0" anchor="ctr"/>
          <a:lstStyle/>
          <a:p>
            <a:pPr indent="0" marL="0">
              <a:lnSpc>
                <a:spcPts val="2400"/>
              </a:lnSpc>
              <a:buNone/>
            </a:pPr>
            <a:r>
              <a:rPr lang="en-US" sz="1800" dirty="0">
                <a:solidFill>
                  <a:srgbClr val="F8FAFC"/>
                </a:solidFill>
                <a:latin typeface="Arial" pitchFamily="34" charset="0"/>
                <a:ea typeface="Arial" pitchFamily="34" charset="-122"/>
                <a:cs typeface="Arial" pitchFamily="34" charset="-120"/>
              </a:rPr>
              <a:t>Accounting operates under established principles, ensuring consistency and comparability. These principles provide a framework for ethical and reliable financial reporting, building trust and transparency.</a:t>
            </a:r>
            <a:endParaRPr lang="en-US" sz="1800" dirty="0"/>
          </a:p>
        </p:txBody>
      </p:sp>
      <p:sp>
        <p:nvSpPr>
          <p:cNvPr id="5" name="Text 3"/>
          <p:cNvSpPr/>
          <p:nvPr/>
        </p:nvSpPr>
        <p:spPr>
          <a:xfrm>
            <a:off x="5029200" y="3200400"/>
            <a:ext cx="6473952" cy="1645920"/>
          </a:xfrm>
          <a:prstGeom prst="rect">
            <a:avLst/>
          </a:prstGeom>
          <a:noFill/>
          <a:ln/>
        </p:spPr>
        <p:txBody>
          <a:bodyPr wrap="square" rtlCol="0" anchor="t"/>
          <a:lstStyle/>
          <a:p>
            <a:r>
              <a:rPr lang="en-US" sz="1600" dirty="0">
                <a:solidFill>
                  <a:srgbClr val="F8FAFC"/>
                </a:solidFill>
                <a:latin typeface="Arial" pitchFamily="34" charset="0"/>
                <a:ea typeface="Arial" pitchFamily="34" charset="-122"/>
                <a:cs typeface="Arial" pitchFamily="34" charset="-120"/>
              </a:rPr>
              <a:t>GAAP (Generally Accepted Accounting Principles): The common set of accounting rules, standards, and procedures.</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Accrual Accounting: Recognizing revenue when earned and expenses when incurred, regardless of cash flow.</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Matching Principle: Matching expenses with the revenues they generate.</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Consistency Principle: Using the same accounting methods from period to period.</a:t>
            </a:r>
            <a:endParaRPr lang="en-US" sz="1600" dirty="0"/>
          </a:p>
        </p:txBody>
      </p:sp>
      <p:pic>
        <p:nvPicPr>
          <p:cNvPr id="6" name="Image 0" descr="https://image.pollinations.ai/prompt/A%20strong%20foundation%20with%20pillars%20representing%20the%20accounting%20principles%20(GAAP%2C%20Accrual%2C%20Matching%2C%20Consistency).%2C%20professional%2C%20high%20quality%2C%204k?width=1920&amp;height=1080&amp;nologo=true">    </p:cNvPr>
          <p:cNvPicPr>
            <a:picLocks noChangeAspect="1"/>
          </p:cNvPicPr>
          <p:nvPr/>
        </p:nvPicPr>
        <p:blipFill>
          <a:blip r:embed="rId1"/>
          <a:srcRect l="0" r="0" t="0" b="0"/>
          <a:stretch/>
        </p:blipFill>
        <p:spPr>
          <a:xfrm>
            <a:off x="5029200" y="5074920"/>
            <a:ext cx="5486400" cy="2286000"/>
          </a:xfrm>
          <a:prstGeom prst="rect">
            <a:avLst/>
          </a:prstGeom>
        </p:spPr>
      </p:pic>
      <p:sp>
        <p:nvSpPr>
          <p:cNvPr id="7" name="Text 4"/>
          <p:cNvSpPr/>
          <p:nvPr/>
        </p:nvSpPr>
        <p:spPr>
          <a:xfrm>
            <a:off x="10972800" y="6400800"/>
            <a:ext cx="914400" cy="36576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685800" y="1737360"/>
            <a:ext cx="1828800" cy="36576"/>
          </a:xfrm>
          <a:prstGeom prst="rect">
            <a:avLst/>
          </a:prstGeom>
          <a:solidFill>
            <a:srgbClr val="3B82F6"/>
          </a:solidFill>
          <a:ln/>
        </p:spPr>
      </p:sp>
      <p:sp>
        <p:nvSpPr>
          <p:cNvPr id="3" name="Text 1"/>
          <p:cNvSpPr/>
          <p:nvPr/>
        </p:nvSpPr>
        <p:spPr>
          <a:xfrm>
            <a:off x="685800" y="548640"/>
            <a:ext cx="10817352" cy="1097280"/>
          </a:xfrm>
          <a:prstGeom prst="rect">
            <a:avLst/>
          </a:prstGeom>
          <a:noFill/>
          <a:ln/>
        </p:spPr>
        <p:txBody>
          <a:bodyPr wrap="square" rtlCol="0" anchor="ctr"/>
          <a:lstStyle/>
          <a:p>
            <a:pPr algn="l" indent="0" marL="0">
              <a:buNone/>
            </a:pPr>
            <a:r>
              <a:rPr lang="en-US" sz="4000" b="1" dirty="0">
                <a:solidFill>
                  <a:srgbClr val="F8FAFC"/>
                </a:solidFill>
                <a:latin typeface="Arial" pitchFamily="34" charset="0"/>
                <a:ea typeface="Arial" pitchFamily="34" charset="-122"/>
                <a:cs typeface="Arial" pitchFamily="34" charset="-120"/>
              </a:rPr>
              <a:t>Key Financial Statements</a:t>
            </a:r>
            <a:endParaRPr lang="en-US" sz="4000" dirty="0"/>
          </a:p>
        </p:txBody>
      </p:sp>
      <p:sp>
        <p:nvSpPr>
          <p:cNvPr id="4" name="Text 2"/>
          <p:cNvSpPr/>
          <p:nvPr/>
        </p:nvSpPr>
        <p:spPr>
          <a:xfrm>
            <a:off x="685800" y="1828800"/>
            <a:ext cx="10817352" cy="1645920"/>
          </a:xfrm>
          <a:prstGeom prst="rect">
            <a:avLst/>
          </a:prstGeom>
          <a:noFill/>
          <a:ln/>
        </p:spPr>
        <p:txBody>
          <a:bodyPr wrap="square" rtlCol="0" anchor="t"/>
          <a:lstStyle/>
          <a:p>
            <a:r>
              <a:rPr lang="en-US" sz="1600" dirty="0">
                <a:solidFill>
                  <a:srgbClr val="F8FAFC"/>
                </a:solidFill>
                <a:latin typeface="Arial" pitchFamily="34" charset="0"/>
                <a:ea typeface="Arial" pitchFamily="34" charset="-122"/>
                <a:cs typeface="Arial" pitchFamily="34" charset="-120"/>
              </a:rPr>
              <a:t>Balance Sheet: A snapshot of a company's assets, liabilities, and equity at a specific point in time.</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Income Statement: Reports a company's financial performance over a period of time, showing revenue, expenses, and profit.</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Statement of Cash Flows: Tracks the movement of cash both into and out of a company.</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Statement of Retained Earnings: Explains the changes in a company's retained earnings over a period of time.</a:t>
            </a:r>
            <a:endParaRPr lang="en-US" sz="1600" dirty="0"/>
          </a:p>
        </p:txBody>
      </p:sp>
      <p:sp>
        <p:nvSpPr>
          <p:cNvPr id="5" name="Text 3"/>
          <p:cNvSpPr/>
          <p:nvPr/>
        </p:nvSpPr>
        <p:spPr>
          <a:xfrm>
            <a:off x="10972800" y="6400800"/>
            <a:ext cx="914400" cy="36576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6720840"/>
            <a:ext cx="12188952" cy="137160"/>
          </a:xfrm>
          <a:prstGeom prst="rect">
            <a:avLst/>
          </a:prstGeom>
          <a:solidFill>
            <a:srgbClr val="3B82F6"/>
          </a:solidFill>
          <a:ln/>
        </p:spPr>
      </p:sp>
      <p:sp>
        <p:nvSpPr>
          <p:cNvPr id="3" name="Text 1"/>
          <p:cNvSpPr/>
          <p:nvPr/>
        </p:nvSpPr>
        <p:spPr>
          <a:xfrm>
            <a:off x="685800" y="548640"/>
            <a:ext cx="10817352" cy="914400"/>
          </a:xfrm>
          <a:prstGeom prst="rect">
            <a:avLst/>
          </a:prstGeom>
          <a:noFill/>
          <a:ln/>
        </p:spPr>
        <p:txBody>
          <a:bodyPr wrap="square" rtlCol="0" anchor="ctr"/>
          <a:lstStyle/>
          <a:p>
            <a:pPr algn="ctr" indent="0" marL="0">
              <a:buNone/>
            </a:pPr>
            <a:r>
              <a:rPr lang="en-US" sz="3600" b="1" dirty="0">
                <a:solidFill>
                  <a:srgbClr val="F8FAFC"/>
                </a:solidFill>
                <a:latin typeface="Arial" pitchFamily="34" charset="0"/>
                <a:ea typeface="Arial" pitchFamily="34" charset="-122"/>
                <a:cs typeface="Arial" pitchFamily="34" charset="-120"/>
              </a:rPr>
              <a:t>Unlock Your Business Potential</a:t>
            </a:r>
            <a:endParaRPr lang="en-US" sz="3600" dirty="0"/>
          </a:p>
        </p:txBody>
      </p:sp>
      <p:sp>
        <p:nvSpPr>
          <p:cNvPr id="4" name="Text 2"/>
          <p:cNvSpPr/>
          <p:nvPr/>
        </p:nvSpPr>
        <p:spPr>
          <a:xfrm>
            <a:off x="685800" y="1828800"/>
            <a:ext cx="2286000" cy="1005840"/>
          </a:xfrm>
          <a:prstGeom prst="rect">
            <a:avLst/>
          </a:prstGeom>
          <a:noFill/>
          <a:ln/>
        </p:spPr>
        <p:txBody>
          <a:bodyPr wrap="square" rtlCol="0" anchor="ctr"/>
          <a:lstStyle/>
          <a:p>
            <a:pPr algn="ctr" indent="0" marL="0">
              <a:buNone/>
            </a:pPr>
            <a:r>
              <a:rPr lang="en-US" sz="4800" b="1" dirty="0">
                <a:solidFill>
                  <a:srgbClr val="3B82F6"/>
                </a:solidFill>
                <a:latin typeface="Arial" pitchFamily="34" charset="0"/>
                <a:ea typeface="Arial" pitchFamily="34" charset="-122"/>
                <a:cs typeface="Arial" pitchFamily="34" charset="-120"/>
              </a:rPr>
              <a:t>30%</a:t>
            </a:r>
            <a:endParaRPr lang="en-US" sz="4800" dirty="0"/>
          </a:p>
        </p:txBody>
      </p:sp>
      <p:sp>
        <p:nvSpPr>
          <p:cNvPr id="5" name="Text 3"/>
          <p:cNvSpPr/>
          <p:nvPr/>
        </p:nvSpPr>
        <p:spPr>
          <a:xfrm>
            <a:off x="685800" y="2834640"/>
            <a:ext cx="2286000" cy="457200"/>
          </a:xfrm>
          <a:prstGeom prst="rect">
            <a:avLst/>
          </a:prstGeom>
          <a:noFill/>
          <a:ln/>
        </p:spPr>
        <p:txBody>
          <a:bodyPr wrap="square"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Increase in Profitability (with informed accounting)</a:t>
            </a:r>
            <a:endParaRPr lang="en-US" sz="1400" dirty="0"/>
          </a:p>
        </p:txBody>
      </p:sp>
      <p:sp>
        <p:nvSpPr>
          <p:cNvPr id="6" name="Text 4"/>
          <p:cNvSpPr/>
          <p:nvPr/>
        </p:nvSpPr>
        <p:spPr>
          <a:xfrm>
            <a:off x="685800" y="3703320"/>
            <a:ext cx="2286000" cy="1005840"/>
          </a:xfrm>
          <a:prstGeom prst="rect">
            <a:avLst/>
          </a:prstGeom>
          <a:noFill/>
          <a:ln/>
        </p:spPr>
        <p:txBody>
          <a:bodyPr wrap="square" rtlCol="0" anchor="ctr"/>
          <a:lstStyle/>
          <a:p>
            <a:pPr algn="ctr" indent="0" marL="0">
              <a:buNone/>
            </a:pPr>
            <a:r>
              <a:rPr lang="en-US" sz="4800" b="1" dirty="0">
                <a:solidFill>
                  <a:srgbClr val="3B82F6"/>
                </a:solidFill>
                <a:latin typeface="Arial" pitchFamily="34" charset="0"/>
                <a:ea typeface="Arial" pitchFamily="34" charset="-122"/>
                <a:cs typeface="Arial" pitchFamily="34" charset="-120"/>
              </a:rPr>
              <a:t>20%</a:t>
            </a:r>
            <a:endParaRPr lang="en-US" sz="4800" dirty="0"/>
          </a:p>
        </p:txBody>
      </p:sp>
      <p:sp>
        <p:nvSpPr>
          <p:cNvPr id="7" name="Text 5"/>
          <p:cNvSpPr/>
          <p:nvPr/>
        </p:nvSpPr>
        <p:spPr>
          <a:xfrm>
            <a:off x="685800" y="4709160"/>
            <a:ext cx="2286000" cy="457200"/>
          </a:xfrm>
          <a:prstGeom prst="rect">
            <a:avLst/>
          </a:prstGeom>
          <a:noFill/>
          <a:ln/>
        </p:spPr>
        <p:txBody>
          <a:bodyPr wrap="square"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Reduction in Operational Costs</a:t>
            </a:r>
            <a:endParaRPr lang="en-US" sz="1400" dirty="0"/>
          </a:p>
        </p:txBody>
      </p:sp>
      <p:sp>
        <p:nvSpPr>
          <p:cNvPr id="8" name="Text 6"/>
          <p:cNvSpPr/>
          <p:nvPr/>
        </p:nvSpPr>
        <p:spPr>
          <a:xfrm>
            <a:off x="685800" y="5577840"/>
            <a:ext cx="2286000" cy="1005840"/>
          </a:xfrm>
          <a:prstGeom prst="rect">
            <a:avLst/>
          </a:prstGeom>
          <a:noFill/>
          <a:ln/>
        </p:spPr>
        <p:txBody>
          <a:bodyPr wrap="square" rtlCol="0" anchor="ctr"/>
          <a:lstStyle/>
          <a:p>
            <a:pPr algn="ctr" indent="0" marL="0">
              <a:buNone/>
            </a:pPr>
            <a:r>
              <a:rPr lang="en-US" sz="4800" b="1" dirty="0">
                <a:solidFill>
                  <a:srgbClr val="3B82F6"/>
                </a:solidFill>
                <a:latin typeface="Arial" pitchFamily="34" charset="0"/>
                <a:ea typeface="Arial" pitchFamily="34" charset="-122"/>
                <a:cs typeface="Arial" pitchFamily="34" charset="-120"/>
              </a:rPr>
              <a:t>15%</a:t>
            </a:r>
            <a:endParaRPr lang="en-US" sz="4800" dirty="0"/>
          </a:p>
        </p:txBody>
      </p:sp>
      <p:sp>
        <p:nvSpPr>
          <p:cNvPr id="9" name="Text 7"/>
          <p:cNvSpPr/>
          <p:nvPr/>
        </p:nvSpPr>
        <p:spPr>
          <a:xfrm>
            <a:off x="685800" y="6583680"/>
            <a:ext cx="2286000" cy="457200"/>
          </a:xfrm>
          <a:prstGeom prst="rect">
            <a:avLst/>
          </a:prstGeom>
          <a:noFill/>
          <a:ln/>
        </p:spPr>
        <p:txBody>
          <a:bodyPr wrap="square"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Improvement in Cash Flow Management</a:t>
            </a:r>
            <a:endParaRPr lang="en-US" sz="1400" dirty="0"/>
          </a:p>
        </p:txBody>
      </p:sp>
      <p:sp>
        <p:nvSpPr>
          <p:cNvPr id="10" name="Text 8"/>
          <p:cNvSpPr/>
          <p:nvPr/>
        </p:nvSpPr>
        <p:spPr>
          <a:xfrm>
            <a:off x="685800" y="7452360"/>
            <a:ext cx="2286000" cy="1005840"/>
          </a:xfrm>
          <a:prstGeom prst="rect">
            <a:avLst/>
          </a:prstGeom>
          <a:noFill/>
          <a:ln/>
        </p:spPr>
        <p:txBody>
          <a:bodyPr wrap="square" rtlCol="0" anchor="ctr"/>
          <a:lstStyle/>
          <a:p>
            <a:pPr algn="ctr" indent="0" marL="0">
              <a:buNone/>
            </a:pPr>
            <a:r>
              <a:rPr lang="en-US" sz="4800" b="1" dirty="0">
                <a:solidFill>
                  <a:srgbClr val="3B82F6"/>
                </a:solidFill>
                <a:latin typeface="Arial" pitchFamily="34" charset="0"/>
                <a:ea typeface="Arial" pitchFamily="34" charset="-122"/>
                <a:cs typeface="Arial" pitchFamily="34" charset="-120"/>
              </a:rPr>
              <a:t>50%</a:t>
            </a:r>
            <a:endParaRPr lang="en-US" sz="4800" dirty="0"/>
          </a:p>
        </p:txBody>
      </p:sp>
      <p:sp>
        <p:nvSpPr>
          <p:cNvPr id="11" name="Text 9"/>
          <p:cNvSpPr/>
          <p:nvPr/>
        </p:nvSpPr>
        <p:spPr>
          <a:xfrm>
            <a:off x="685800" y="8458200"/>
            <a:ext cx="2286000" cy="457200"/>
          </a:xfrm>
          <a:prstGeom prst="rect">
            <a:avLst/>
          </a:prstGeom>
          <a:noFill/>
          <a:ln/>
        </p:spPr>
        <p:txBody>
          <a:bodyPr wrap="square"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Enhanced Investment Decisions</a:t>
            </a:r>
            <a:endParaRPr lang="en-US" sz="1400" dirty="0"/>
          </a:p>
        </p:txBody>
      </p:sp>
      <p:sp>
        <p:nvSpPr>
          <p:cNvPr id="12" name="Text 10"/>
          <p:cNvSpPr/>
          <p:nvPr/>
        </p:nvSpPr>
        <p:spPr>
          <a:xfrm>
            <a:off x="10972800" y="6400800"/>
            <a:ext cx="914400" cy="36576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4572000" cy="6858000"/>
          </a:xfrm>
          <a:prstGeom prst="rect">
            <a:avLst/>
          </a:prstGeom>
          <a:solidFill>
            <a:srgbClr val="8B5CF6">
              <a:alpha val="15000"/>
            </a:srgbClr>
          </a:solidFill>
          <a:ln/>
        </p:spPr>
      </p:sp>
      <p:sp>
        <p:nvSpPr>
          <p:cNvPr id="3" name="Text 1"/>
          <p:cNvSpPr/>
          <p:nvPr/>
        </p:nvSpPr>
        <p:spPr>
          <a:xfrm>
            <a:off x="5029200" y="731520"/>
            <a:ext cx="6473952" cy="1097280"/>
          </a:xfrm>
          <a:prstGeom prst="rect">
            <a:avLst/>
          </a:prstGeom>
          <a:noFill/>
          <a:ln/>
        </p:spPr>
        <p:txBody>
          <a:bodyPr wrap="square" rtlCol="0" anchor="ctr"/>
          <a:lstStyle/>
          <a:p>
            <a:pPr algn="l" indent="0" marL="0">
              <a:buNone/>
            </a:pPr>
            <a:r>
              <a:rPr lang="en-US" sz="3600" b="1" dirty="0">
                <a:solidFill>
                  <a:srgbClr val="F8FAFC"/>
                </a:solidFill>
                <a:latin typeface="Arial" pitchFamily="34" charset="0"/>
                <a:ea typeface="Arial" pitchFamily="34" charset="-122"/>
                <a:cs typeface="Arial" pitchFamily="34" charset="-120"/>
              </a:rPr>
              <a:t>Accounting for Strategic Decision-Making</a:t>
            </a:r>
            <a:endParaRPr lang="en-US" sz="3600" dirty="0"/>
          </a:p>
        </p:txBody>
      </p:sp>
      <p:sp>
        <p:nvSpPr>
          <p:cNvPr id="4" name="Text 2"/>
          <p:cNvSpPr/>
          <p:nvPr/>
        </p:nvSpPr>
        <p:spPr>
          <a:xfrm>
            <a:off x="5029200" y="2011680"/>
            <a:ext cx="6473952" cy="960120"/>
          </a:xfrm>
          <a:prstGeom prst="rect">
            <a:avLst/>
          </a:prstGeom>
          <a:noFill/>
          <a:ln/>
        </p:spPr>
        <p:txBody>
          <a:bodyPr wrap="square" rtlCol="0" anchor="ctr"/>
          <a:lstStyle/>
          <a:p>
            <a:pPr indent="0" marL="0">
              <a:lnSpc>
                <a:spcPts val="2400"/>
              </a:lnSpc>
              <a:buNone/>
            </a:pPr>
            <a:r>
              <a:rPr lang="en-US" sz="1800" dirty="0">
                <a:solidFill>
                  <a:srgbClr val="F8FAFC"/>
                </a:solidFill>
                <a:latin typeface="Arial" pitchFamily="34" charset="0"/>
                <a:ea typeface="Arial" pitchFamily="34" charset="-122"/>
                <a:cs typeface="Arial" pitchFamily="34" charset="-120"/>
              </a:rPr>
              <a:t>Accounting provides the data needed to make informed strategic decisions, from pricing strategies to investment opportunities. Leverage financial insights to gain a competitive advantage and achieve sustainable growth.</a:t>
            </a:r>
            <a:endParaRPr lang="en-US" sz="1800" dirty="0"/>
          </a:p>
        </p:txBody>
      </p:sp>
      <p:sp>
        <p:nvSpPr>
          <p:cNvPr id="5" name="Text 3"/>
          <p:cNvSpPr/>
          <p:nvPr/>
        </p:nvSpPr>
        <p:spPr>
          <a:xfrm>
            <a:off x="5029200" y="3200400"/>
            <a:ext cx="6473952" cy="1645920"/>
          </a:xfrm>
          <a:prstGeom prst="rect">
            <a:avLst/>
          </a:prstGeom>
          <a:noFill/>
          <a:ln/>
        </p:spPr>
        <p:txBody>
          <a:bodyPr wrap="square" rtlCol="0" anchor="t"/>
          <a:lstStyle/>
          <a:p>
            <a:r>
              <a:rPr lang="en-US" sz="1600" dirty="0">
                <a:solidFill>
                  <a:srgbClr val="F8FAFC"/>
                </a:solidFill>
                <a:latin typeface="Arial" pitchFamily="34" charset="0"/>
                <a:ea typeface="Arial" pitchFamily="34" charset="-122"/>
                <a:cs typeface="Arial" pitchFamily="34" charset="-120"/>
              </a:rPr>
              <a:t>Budgeting and Forecasting: Planning for the future and anticipating potential challenges.</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Cost Analysis: Understanding the true cost of products and services.</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Performance Measurement: Tracking progress towards goals and identifying areas for improvement.</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Investment Appraisal: Evaluating the potential return on investment for new projects.</a:t>
            </a:r>
            <a:endParaRPr lang="en-US" sz="1600" dirty="0"/>
          </a:p>
        </p:txBody>
      </p:sp>
      <p:pic>
        <p:nvPicPr>
          <p:cNvPr id="6" name="Image 0" descr="https://image.pollinations.ai/prompt/Image%20of%20a%20business%20leader%20making%20strategic%20decisions%20based%20on%20data%20visualized%20from%20accounting%20reports.%2C%20professional%2C%20high%20quality%2C%204k?width=1920&amp;height=1080&amp;nologo=true">    </p:cNvPr>
          <p:cNvPicPr>
            <a:picLocks noChangeAspect="1"/>
          </p:cNvPicPr>
          <p:nvPr/>
        </p:nvPicPr>
        <p:blipFill>
          <a:blip r:embed="rId1"/>
          <a:srcRect l="0" r="0" t="0" b="0"/>
          <a:stretch/>
        </p:blipFill>
        <p:spPr>
          <a:xfrm>
            <a:off x="5029200" y="5074920"/>
            <a:ext cx="5486400" cy="2286000"/>
          </a:xfrm>
          <a:prstGeom prst="rect">
            <a:avLst/>
          </a:prstGeom>
        </p:spPr>
      </p:pic>
      <p:sp>
        <p:nvSpPr>
          <p:cNvPr id="7" name="Text 4"/>
          <p:cNvSpPr/>
          <p:nvPr/>
        </p:nvSpPr>
        <p:spPr>
          <a:xfrm>
            <a:off x="10972800" y="6400800"/>
            <a:ext cx="914400" cy="36576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6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685800" y="1737360"/>
            <a:ext cx="1828800" cy="36576"/>
          </a:xfrm>
          <a:prstGeom prst="rect">
            <a:avLst/>
          </a:prstGeom>
          <a:solidFill>
            <a:srgbClr val="3B82F6"/>
          </a:solidFill>
          <a:ln/>
        </p:spPr>
      </p:sp>
      <p:sp>
        <p:nvSpPr>
          <p:cNvPr id="3" name="Text 1"/>
          <p:cNvSpPr/>
          <p:nvPr/>
        </p:nvSpPr>
        <p:spPr>
          <a:xfrm>
            <a:off x="685800" y="548640"/>
            <a:ext cx="10817352" cy="1097280"/>
          </a:xfrm>
          <a:prstGeom prst="rect">
            <a:avLst/>
          </a:prstGeom>
          <a:noFill/>
          <a:ln/>
        </p:spPr>
        <p:txBody>
          <a:bodyPr wrap="square" rtlCol="0" anchor="ctr"/>
          <a:lstStyle/>
          <a:p>
            <a:pPr algn="l" indent="0" marL="0">
              <a:buNone/>
            </a:pPr>
            <a:r>
              <a:rPr lang="en-US" sz="4000" b="1" dirty="0">
                <a:solidFill>
                  <a:srgbClr val="F8FAFC"/>
                </a:solidFill>
                <a:latin typeface="Arial" pitchFamily="34" charset="0"/>
                <a:ea typeface="Arial" pitchFamily="34" charset="-122"/>
                <a:cs typeface="Arial" pitchFamily="34" charset="-120"/>
              </a:rPr>
              <a:t>The Role of Technology in Modern Accounting</a:t>
            </a:r>
            <a:endParaRPr lang="en-US" sz="4000" dirty="0"/>
          </a:p>
        </p:txBody>
      </p:sp>
      <p:sp>
        <p:nvSpPr>
          <p:cNvPr id="4" name="Text 2"/>
          <p:cNvSpPr/>
          <p:nvPr/>
        </p:nvSpPr>
        <p:spPr>
          <a:xfrm>
            <a:off x="685800" y="1828800"/>
            <a:ext cx="10817352" cy="1645920"/>
          </a:xfrm>
          <a:prstGeom prst="rect">
            <a:avLst/>
          </a:prstGeom>
          <a:noFill/>
          <a:ln/>
        </p:spPr>
        <p:txBody>
          <a:bodyPr wrap="square" rtlCol="0" anchor="t"/>
          <a:lstStyle/>
          <a:p>
            <a:r>
              <a:rPr lang="en-US" sz="1600" dirty="0">
                <a:solidFill>
                  <a:srgbClr val="F8FAFC"/>
                </a:solidFill>
                <a:latin typeface="Arial" pitchFamily="34" charset="0"/>
                <a:ea typeface="Arial" pitchFamily="34" charset="-122"/>
                <a:cs typeface="Arial" pitchFamily="34" charset="-120"/>
              </a:rPr>
              <a:t>Automation: Streamlining repetitive tasks and reducing errors.</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Cloud Computing: Accessing financial data from anywhere, anytime.</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Data Analytics: Uncovering hidden insights and trends.</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AI and Machine Learning: Automating complex accounting processes.</a:t>
            </a:r>
            <a:endParaRPr lang="en-US" sz="1600" dirty="0"/>
          </a:p>
        </p:txBody>
      </p:sp>
      <p:sp>
        <p:nvSpPr>
          <p:cNvPr id="5" name="Text 3"/>
          <p:cNvSpPr/>
          <p:nvPr/>
        </p:nvSpPr>
        <p:spPr>
          <a:xfrm>
            <a:off x="10972800" y="6400800"/>
            <a:ext cx="914400" cy="36576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7 /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6720840"/>
            <a:ext cx="12188952" cy="137160"/>
          </a:xfrm>
          <a:prstGeom prst="rect">
            <a:avLst/>
          </a:prstGeom>
          <a:solidFill>
            <a:srgbClr val="3B82F6"/>
          </a:solidFill>
          <a:ln/>
        </p:spPr>
      </p:sp>
      <p:sp>
        <p:nvSpPr>
          <p:cNvPr id="3" name="Text 1"/>
          <p:cNvSpPr/>
          <p:nvPr/>
        </p:nvSpPr>
        <p:spPr>
          <a:xfrm>
            <a:off x="685800" y="548640"/>
            <a:ext cx="10817352" cy="914400"/>
          </a:xfrm>
          <a:prstGeom prst="rect">
            <a:avLst/>
          </a:prstGeom>
          <a:noFill/>
          <a:ln/>
        </p:spPr>
        <p:txBody>
          <a:bodyPr wrap="square" rtlCol="0" anchor="ctr"/>
          <a:lstStyle/>
          <a:p>
            <a:pPr algn="ctr" indent="0" marL="0">
              <a:buNone/>
            </a:pPr>
            <a:r>
              <a:rPr lang="en-US" sz="3600" b="1" dirty="0">
                <a:solidFill>
                  <a:srgbClr val="F8FAFC"/>
                </a:solidFill>
                <a:latin typeface="Arial" pitchFamily="34" charset="0"/>
                <a:ea typeface="Arial" pitchFamily="34" charset="-122"/>
                <a:cs typeface="Arial" pitchFamily="34" charset="-120"/>
              </a:rPr>
              <a:t>Building a Strong Financial Foundation</a:t>
            </a:r>
            <a:endParaRPr lang="en-US" sz="3600" dirty="0"/>
          </a:p>
        </p:txBody>
      </p:sp>
      <p:sp>
        <p:nvSpPr>
          <p:cNvPr id="4" name="Text 2"/>
          <p:cNvSpPr/>
          <p:nvPr/>
        </p:nvSpPr>
        <p:spPr>
          <a:xfrm>
            <a:off x="685800" y="1828800"/>
            <a:ext cx="2286000" cy="1005840"/>
          </a:xfrm>
          <a:prstGeom prst="rect">
            <a:avLst/>
          </a:prstGeom>
          <a:noFill/>
          <a:ln/>
        </p:spPr>
        <p:txBody>
          <a:bodyPr wrap="square" rtlCol="0" anchor="ctr"/>
          <a:lstStyle/>
          <a:p>
            <a:pPr algn="ctr" indent="0" marL="0">
              <a:buNone/>
            </a:pPr>
            <a:r>
              <a:rPr lang="en-US" sz="4800" b="1" dirty="0">
                <a:solidFill>
                  <a:srgbClr val="3B82F6"/>
                </a:solidFill>
                <a:latin typeface="Arial" pitchFamily="34" charset="0"/>
                <a:ea typeface="Arial" pitchFamily="34" charset="-122"/>
                <a:cs typeface="Arial" pitchFamily="34" charset="-120"/>
              </a:rPr>
              <a:t>90%</a:t>
            </a:r>
            <a:endParaRPr lang="en-US" sz="4800" dirty="0"/>
          </a:p>
        </p:txBody>
      </p:sp>
      <p:sp>
        <p:nvSpPr>
          <p:cNvPr id="5" name="Text 3"/>
          <p:cNvSpPr/>
          <p:nvPr/>
        </p:nvSpPr>
        <p:spPr>
          <a:xfrm>
            <a:off x="685800" y="2834640"/>
            <a:ext cx="2286000" cy="457200"/>
          </a:xfrm>
          <a:prstGeom prst="rect">
            <a:avLst/>
          </a:prstGeom>
          <a:noFill/>
          <a:ln/>
        </p:spPr>
        <p:txBody>
          <a:bodyPr wrap="square"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Improved Financial Reporting Accuracy</a:t>
            </a:r>
            <a:endParaRPr lang="en-US" sz="1400" dirty="0"/>
          </a:p>
        </p:txBody>
      </p:sp>
      <p:sp>
        <p:nvSpPr>
          <p:cNvPr id="6" name="Text 4"/>
          <p:cNvSpPr/>
          <p:nvPr/>
        </p:nvSpPr>
        <p:spPr>
          <a:xfrm>
            <a:off x="685800" y="3703320"/>
            <a:ext cx="2286000" cy="1005840"/>
          </a:xfrm>
          <a:prstGeom prst="rect">
            <a:avLst/>
          </a:prstGeom>
          <a:noFill/>
          <a:ln/>
        </p:spPr>
        <p:txBody>
          <a:bodyPr wrap="square" rtlCol="0" anchor="ctr"/>
          <a:lstStyle/>
          <a:p>
            <a:pPr algn="ctr" indent="0" marL="0">
              <a:buNone/>
            </a:pPr>
            <a:r>
              <a:rPr lang="en-US" sz="4800" b="1" dirty="0">
                <a:solidFill>
                  <a:srgbClr val="3B82F6"/>
                </a:solidFill>
                <a:latin typeface="Arial" pitchFamily="34" charset="0"/>
                <a:ea typeface="Arial" pitchFamily="34" charset="-122"/>
                <a:cs typeface="Arial" pitchFamily="34" charset="-120"/>
              </a:rPr>
              <a:t>75%</a:t>
            </a:r>
            <a:endParaRPr lang="en-US" sz="4800" dirty="0"/>
          </a:p>
        </p:txBody>
      </p:sp>
      <p:sp>
        <p:nvSpPr>
          <p:cNvPr id="7" name="Text 5"/>
          <p:cNvSpPr/>
          <p:nvPr/>
        </p:nvSpPr>
        <p:spPr>
          <a:xfrm>
            <a:off x="685800" y="4709160"/>
            <a:ext cx="2286000" cy="457200"/>
          </a:xfrm>
          <a:prstGeom prst="rect">
            <a:avLst/>
          </a:prstGeom>
          <a:noFill/>
          <a:ln/>
        </p:spPr>
        <p:txBody>
          <a:bodyPr wrap="square"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Increased Investor Confidence</a:t>
            </a:r>
            <a:endParaRPr lang="en-US" sz="1400" dirty="0"/>
          </a:p>
        </p:txBody>
      </p:sp>
      <p:sp>
        <p:nvSpPr>
          <p:cNvPr id="8" name="Text 6"/>
          <p:cNvSpPr/>
          <p:nvPr/>
        </p:nvSpPr>
        <p:spPr>
          <a:xfrm>
            <a:off x="685800" y="5577840"/>
            <a:ext cx="2286000" cy="1005840"/>
          </a:xfrm>
          <a:prstGeom prst="rect">
            <a:avLst/>
          </a:prstGeom>
          <a:noFill/>
          <a:ln/>
        </p:spPr>
        <p:txBody>
          <a:bodyPr wrap="square" rtlCol="0" anchor="ctr"/>
          <a:lstStyle/>
          <a:p>
            <a:pPr algn="ctr" indent="0" marL="0">
              <a:buNone/>
            </a:pPr>
            <a:r>
              <a:rPr lang="en-US" sz="4800" b="1" dirty="0">
                <a:solidFill>
                  <a:srgbClr val="3B82F6"/>
                </a:solidFill>
                <a:latin typeface="Arial" pitchFamily="34" charset="0"/>
                <a:ea typeface="Arial" pitchFamily="34" charset="-122"/>
                <a:cs typeface="Arial" pitchFamily="34" charset="-120"/>
              </a:rPr>
              <a:t>60%</a:t>
            </a:r>
            <a:endParaRPr lang="en-US" sz="4800" dirty="0"/>
          </a:p>
        </p:txBody>
      </p:sp>
      <p:sp>
        <p:nvSpPr>
          <p:cNvPr id="9" name="Text 7"/>
          <p:cNvSpPr/>
          <p:nvPr/>
        </p:nvSpPr>
        <p:spPr>
          <a:xfrm>
            <a:off x="685800" y="6583680"/>
            <a:ext cx="2286000" cy="457200"/>
          </a:xfrm>
          <a:prstGeom prst="rect">
            <a:avLst/>
          </a:prstGeom>
          <a:noFill/>
          <a:ln/>
        </p:spPr>
        <p:txBody>
          <a:bodyPr wrap="square" rtlCol="0" anchor="ctr"/>
          <a:lstStyle/>
          <a:p>
            <a:pPr algn="ctr" indent="0" marL="0">
              <a:buNone/>
            </a:pPr>
            <a:r>
              <a:rPr lang="en-US" sz="1400" dirty="0">
                <a:solidFill>
                  <a:srgbClr val="94A3B8"/>
                </a:solidFill>
                <a:latin typeface="Arial" pitchFamily="34" charset="0"/>
                <a:ea typeface="Arial" pitchFamily="34" charset="-122"/>
                <a:cs typeface="Arial" pitchFamily="34" charset="-120"/>
              </a:rPr>
              <a:t>Better Access to Capital</a:t>
            </a:r>
            <a:endParaRPr lang="en-US" sz="1400" dirty="0"/>
          </a:p>
        </p:txBody>
      </p:sp>
      <p:sp>
        <p:nvSpPr>
          <p:cNvPr id="10" name="Text 8"/>
          <p:cNvSpPr/>
          <p:nvPr/>
        </p:nvSpPr>
        <p:spPr>
          <a:xfrm>
            <a:off x="10972800" y="6400800"/>
            <a:ext cx="914400" cy="36576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685800" y="1737360"/>
            <a:ext cx="1828800" cy="36576"/>
          </a:xfrm>
          <a:prstGeom prst="rect">
            <a:avLst/>
          </a:prstGeom>
          <a:solidFill>
            <a:srgbClr val="3B82F6"/>
          </a:solidFill>
          <a:ln/>
        </p:spPr>
      </p:sp>
      <p:sp>
        <p:nvSpPr>
          <p:cNvPr id="3" name="Text 1"/>
          <p:cNvSpPr/>
          <p:nvPr/>
        </p:nvSpPr>
        <p:spPr>
          <a:xfrm>
            <a:off x="685800" y="548640"/>
            <a:ext cx="10817352" cy="1097280"/>
          </a:xfrm>
          <a:prstGeom prst="rect">
            <a:avLst/>
          </a:prstGeom>
          <a:noFill/>
          <a:ln/>
        </p:spPr>
        <p:txBody>
          <a:bodyPr wrap="square" rtlCol="0" anchor="ctr"/>
          <a:lstStyle/>
          <a:p>
            <a:pPr algn="l" indent="0" marL="0">
              <a:buNone/>
            </a:pPr>
            <a:r>
              <a:rPr lang="en-US" sz="4000" b="1" dirty="0">
                <a:solidFill>
                  <a:srgbClr val="F8FAFC"/>
                </a:solidFill>
                <a:latin typeface="Arial" pitchFamily="34" charset="0"/>
                <a:ea typeface="Arial" pitchFamily="34" charset="-122"/>
                <a:cs typeface="Arial" pitchFamily="34" charset="-120"/>
              </a:rPr>
              <a:t>Investing in Accounting Expertise</a:t>
            </a:r>
            <a:endParaRPr lang="en-US" sz="4000" dirty="0"/>
          </a:p>
        </p:txBody>
      </p:sp>
      <p:sp>
        <p:nvSpPr>
          <p:cNvPr id="4" name="Text 2"/>
          <p:cNvSpPr/>
          <p:nvPr/>
        </p:nvSpPr>
        <p:spPr>
          <a:xfrm>
            <a:off x="685800" y="1828800"/>
            <a:ext cx="10817352" cy="1645920"/>
          </a:xfrm>
          <a:prstGeom prst="rect">
            <a:avLst/>
          </a:prstGeom>
          <a:noFill/>
          <a:ln/>
        </p:spPr>
        <p:txBody>
          <a:bodyPr wrap="square" rtlCol="0" anchor="t"/>
          <a:lstStyle/>
          <a:p>
            <a:r>
              <a:rPr lang="en-US" sz="1600" dirty="0">
                <a:solidFill>
                  <a:srgbClr val="F8FAFC"/>
                </a:solidFill>
                <a:latin typeface="Arial" pitchFamily="34" charset="0"/>
                <a:ea typeface="Arial" pitchFamily="34" charset="-122"/>
                <a:cs typeface="Arial" pitchFamily="34" charset="-120"/>
              </a:rPr>
              <a:t>Hire a Qualified Accountant: Seek out professionals with the right skills and experience.</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Implement Robust Accounting Systems: Invest in software and processes that support accurate and efficient financial reporting.</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Provide Ongoing Training: Ensure your team stays up-to-date with the latest accounting standards and technologies.</a:t>
            </a:r>
            <a:endParaRPr lang="en-US" sz="1600" dirty="0"/>
          </a:p>
          <a:p>
            <a:pPr>
              <a:spcBef>
                <a:spcPts val="800"/>
              </a:spcBef>
            </a:pPr>
            <a:r>
              <a:rPr lang="en-US" sz="1600" dirty="0">
                <a:solidFill>
                  <a:srgbClr val="F8FAFC"/>
                </a:solidFill>
                <a:latin typeface="Arial" pitchFamily="34" charset="0"/>
                <a:ea typeface="Arial" pitchFamily="34" charset="-122"/>
                <a:cs typeface="Arial" pitchFamily="34" charset="-120"/>
              </a:rPr>
              <a:t>Seek External Advice: Consult with experts to gain objective insights and guidance.</a:t>
            </a:r>
            <a:endParaRPr lang="en-US" sz="1600" dirty="0"/>
          </a:p>
        </p:txBody>
      </p:sp>
      <p:sp>
        <p:nvSpPr>
          <p:cNvPr id="5" name="Text 3"/>
          <p:cNvSpPr/>
          <p:nvPr/>
        </p:nvSpPr>
        <p:spPr>
          <a:xfrm>
            <a:off x="10972800" y="6400800"/>
            <a:ext cx="914400" cy="36576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12188952" cy="137160"/>
          </a:xfrm>
          <a:prstGeom prst="rect">
            <a:avLst/>
          </a:prstGeom>
          <a:solidFill>
            <a:srgbClr val="3B82F6"/>
          </a:solidFill>
          <a:ln/>
        </p:spPr>
      </p:sp>
      <p:sp>
        <p:nvSpPr>
          <p:cNvPr id="3" name="Shape 1"/>
          <p:cNvSpPr/>
          <p:nvPr/>
        </p:nvSpPr>
        <p:spPr>
          <a:xfrm>
            <a:off x="457200" y="5943600"/>
            <a:ext cx="457200" cy="457200"/>
          </a:xfrm>
          <a:prstGeom prst="ellipse">
            <a:avLst/>
          </a:prstGeom>
          <a:solidFill>
            <a:srgbClr val="8B5CF6">
              <a:alpha val="30000"/>
            </a:srgbClr>
          </a:solidFill>
          <a:ln/>
        </p:spPr>
      </p:sp>
      <p:sp>
        <p:nvSpPr>
          <p:cNvPr id="4" name="Shape 2"/>
          <p:cNvSpPr/>
          <p:nvPr/>
        </p:nvSpPr>
        <p:spPr>
          <a:xfrm>
            <a:off x="11274552" y="5943600"/>
            <a:ext cx="457200" cy="457200"/>
          </a:xfrm>
          <a:prstGeom prst="ellipse">
            <a:avLst/>
          </a:prstGeom>
          <a:solidFill>
            <a:srgbClr val="8B5CF6">
              <a:alpha val="30000"/>
            </a:srgbClr>
          </a:solidFill>
          <a:ln/>
        </p:spPr>
      </p:sp>
      <p:sp>
        <p:nvSpPr>
          <p:cNvPr id="5" name="Text 3"/>
          <p:cNvSpPr/>
          <p:nvPr/>
        </p:nvSpPr>
        <p:spPr>
          <a:xfrm>
            <a:off x="914400" y="2286000"/>
            <a:ext cx="10360152" cy="1371600"/>
          </a:xfrm>
          <a:prstGeom prst="rect">
            <a:avLst/>
          </a:prstGeom>
          <a:noFill/>
          <a:ln/>
        </p:spPr>
        <p:txBody>
          <a:bodyPr wrap="square" rtlCol="0" anchor="ctr"/>
          <a:lstStyle/>
          <a:p>
            <a:pPr algn="ctr" indent="0" marL="0">
              <a:buNone/>
            </a:pPr>
            <a:r>
              <a:rPr lang="en-US" sz="5400" b="1" dirty="0">
                <a:solidFill>
                  <a:srgbClr val="F8FAFC"/>
                </a:solidFill>
                <a:latin typeface="Arial" pitchFamily="34" charset="0"/>
                <a:ea typeface="Arial" pitchFamily="34" charset="-122"/>
                <a:cs typeface="Arial" pitchFamily="34" charset="-120"/>
              </a:rPr>
              <a:t>Empowering Your Business Through Accounting</a:t>
            </a:r>
            <a:endParaRPr lang="en-US" sz="5400" dirty="0"/>
          </a:p>
        </p:txBody>
      </p:sp>
      <p:sp>
        <p:nvSpPr>
          <p:cNvPr id="6" name="Text 4"/>
          <p:cNvSpPr/>
          <p:nvPr/>
        </p:nvSpPr>
        <p:spPr>
          <a:xfrm>
            <a:off x="914400" y="3840480"/>
            <a:ext cx="10360152" cy="1280160"/>
          </a:xfrm>
          <a:prstGeom prst="rect">
            <a:avLst/>
          </a:prstGeom>
          <a:noFill/>
          <a:ln/>
        </p:spPr>
        <p:txBody>
          <a:bodyPr wrap="square" rtlCol="0" anchor="ctr"/>
          <a:lstStyle/>
          <a:p>
            <a:pPr indent="0" marL="0">
              <a:lnSpc>
                <a:spcPts val="2400"/>
              </a:lnSpc>
              <a:buNone/>
            </a:pPr>
            <a:r>
              <a:rPr lang="en-US" sz="1800" dirty="0">
                <a:solidFill>
                  <a:srgbClr val="F8FAFC"/>
                </a:solidFill>
                <a:latin typeface="Arial" pitchFamily="34" charset="0"/>
                <a:ea typeface="Arial" pitchFamily="34" charset="-122"/>
                <a:cs typeface="Arial" pitchFamily="34" charset="-120"/>
              </a:rPr>
              <a:t>Accounting is not just about numbers; it's a powerful tool for unlocking your business potential. By understanding and leveraging financial insights, you can make informed decisions, drive growth, and achieve sustainable success. Embrace accounting as a strategic asset and watch your business thrive.</a:t>
            </a:r>
            <a:endParaRPr lang="en-US" sz="1800" dirty="0"/>
          </a:p>
        </p:txBody>
      </p:sp>
      <p:sp>
        <p:nvSpPr>
          <p:cNvPr id="7" name="Text 5"/>
          <p:cNvSpPr/>
          <p:nvPr/>
        </p:nvSpPr>
        <p:spPr>
          <a:xfrm>
            <a:off x="10972800" y="6400800"/>
            <a:ext cx="914400" cy="365760"/>
          </a:xfrm>
          <a:prstGeom prst="rect">
            <a:avLst/>
          </a:prstGeom>
          <a:noFill/>
          <a:ln/>
        </p:spPr>
        <p:txBody>
          <a:bodyPr wrap="square" rtlCol="0" anchor="ctr"/>
          <a:lstStyle/>
          <a:p>
            <a:pPr algn="r" indent="0" marL="0">
              <a:buNone/>
            </a:pPr>
            <a:r>
              <a:rPr lang="en-US" sz="1000" dirty="0">
                <a:solidFill>
                  <a:srgbClr val="94A3B8"/>
                </a:solidFill>
                <a:latin typeface="Arial" pitchFamily="34" charset="0"/>
                <a:ea typeface="Arial" pitchFamily="34" charset="-122"/>
                <a:cs typeface="Arial" pitchFamily="34" charset="-120"/>
              </a:rPr>
              <a:t>10 / 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Karr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Accounting: The Language of Business</dc:title>
  <dc:subject>Unlocking Financial Insights for Growth</dc:subject>
  <dc:creator>Karr AI</dc:creator>
  <cp:lastModifiedBy>Karr AI</cp:lastModifiedBy>
  <cp:revision>1</cp:revision>
  <dcterms:created xsi:type="dcterms:W3CDTF">2026-02-06T13:37:59Z</dcterms:created>
  <dcterms:modified xsi:type="dcterms:W3CDTF">2026-02-06T13:37:59Z</dcterms:modified>
</cp:coreProperties>
</file>